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7" r:id="rId8"/>
    <p:sldId id="268" r:id="rId9"/>
    <p:sldId id="269" r:id="rId10"/>
    <p:sldId id="263" r:id="rId11"/>
    <p:sldId id="270" r:id="rId12"/>
    <p:sldId id="271" r:id="rId13"/>
    <p:sldId id="272" r:id="rId14"/>
    <p:sldId id="273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D8837D-933C-4361-8529-A05A719B4FD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7998C-859D-472E-A38A-E4C8876C4B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352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3B1F1B-FFC3-4E48-8CB7-411DC00679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43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F51869-94E8-4599-939D-ADF042B16F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29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F51869-94E8-4599-939D-ADF042B16F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57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F51869-94E8-4599-939D-ADF042B16F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87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F51869-94E8-4599-939D-ADF042B16F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60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F51869-94E8-4599-939D-ADF042B16F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016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F51869-94E8-4599-939D-ADF042B16FB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13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F51869-94E8-4599-939D-ADF042B16FB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37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CBF68-3F81-48FA-8987-AFE22CBAE6F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2690-D55E-4C4A-A04F-5919EFD63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857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CBF68-3F81-48FA-8987-AFE22CBAE6F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2690-D55E-4C4A-A04F-5919EFD63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854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CBF68-3F81-48FA-8987-AFE22CBAE6F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2690-D55E-4C4A-A04F-5919EFD63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767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CBF68-3F81-48FA-8987-AFE22CBAE6F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2690-D55E-4C4A-A04F-5919EFD63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183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CBF68-3F81-48FA-8987-AFE22CBAE6F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2690-D55E-4C4A-A04F-5919EFD63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087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CBF68-3F81-48FA-8987-AFE22CBAE6F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2690-D55E-4C4A-A04F-5919EFD63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270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CBF68-3F81-48FA-8987-AFE22CBAE6F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2690-D55E-4C4A-A04F-5919EFD63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69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CBF68-3F81-48FA-8987-AFE22CBAE6F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2690-D55E-4C4A-A04F-5919EFD63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808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CBF68-3F81-48FA-8987-AFE22CBAE6F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2690-D55E-4C4A-A04F-5919EFD63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630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CBF68-3F81-48FA-8987-AFE22CBAE6F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2690-D55E-4C4A-A04F-5919EFD63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470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CBF68-3F81-48FA-8987-AFE22CBAE6F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2690-D55E-4C4A-A04F-5919EFD63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80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CBF68-3F81-48FA-8987-AFE22CBAE6F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12690-D55E-4C4A-A04F-5919EFD63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788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2753175"/>
            <a:ext cx="6480720" cy="640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2999656" y="2780928"/>
            <a:ext cx="6480720" cy="578676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600" b="1" dirty="0">
                <a:solidFill>
                  <a:schemeClr val="bg1"/>
                </a:solidFill>
              </a:rPr>
            </a:br>
            <a:endParaRPr lang="en-IN" sz="2600" b="1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72695" y="6190279"/>
            <a:ext cx="292420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500" dirty="0">
                <a:ea typeface="+mj-ea"/>
                <a:cs typeface="+mj-cs"/>
              </a:rPr>
              <a:t>Date: 22</a:t>
            </a:r>
            <a:r>
              <a:rPr lang="en-US" sz="1500" baseline="30000" dirty="0">
                <a:ea typeface="+mj-ea"/>
                <a:cs typeface="+mj-cs"/>
              </a:rPr>
              <a:t>th</a:t>
            </a:r>
            <a:r>
              <a:rPr lang="en-US" sz="1500" dirty="0">
                <a:ea typeface="+mj-ea"/>
                <a:cs typeface="+mj-cs"/>
              </a:rPr>
              <a:t> June 2026</a:t>
            </a:r>
            <a:endParaRPr lang="en-US" sz="1500" dirty="0"/>
          </a:p>
        </p:txBody>
      </p:sp>
      <p:sp>
        <p:nvSpPr>
          <p:cNvPr id="10" name="Rectangle 9"/>
          <p:cNvSpPr/>
          <p:nvPr/>
        </p:nvSpPr>
        <p:spPr>
          <a:xfrm>
            <a:off x="2927648" y="3393868"/>
            <a:ext cx="64087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b="1" i="1" dirty="0"/>
              <a:t>Presenter : P Jathin &amp; Y Pavan Kumar</a:t>
            </a:r>
          </a:p>
          <a:p>
            <a:pPr algn="ctr"/>
            <a:r>
              <a:rPr lang="en-IN" sz="1600" b="1" i="1" dirty="0"/>
              <a:t>Team </a:t>
            </a:r>
            <a:r>
              <a:rPr lang="en-IN" sz="1600" b="1" i="1" dirty="0" err="1"/>
              <a:t>TechFLUENT</a:t>
            </a:r>
            <a:r>
              <a:rPr lang="en-IN" sz="1600" b="1" i="1" dirty="0"/>
              <a:t> </a:t>
            </a:r>
          </a:p>
        </p:txBody>
      </p:sp>
      <p:pic>
        <p:nvPicPr>
          <p:cNvPr id="2" name="Picture 2" descr="F:\Website\Misc\Logo_change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088" y="56120"/>
            <a:ext cx="3779912" cy="159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644537" y="2780928"/>
            <a:ext cx="5342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Quality Management System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726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2675476" y="260648"/>
            <a:ext cx="21855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About </a:t>
            </a:r>
            <a:r>
              <a:rPr lang="en-IN" sz="2000" b="1" dirty="0" err="1"/>
              <a:t>TechFLUENT</a:t>
            </a:r>
            <a:endParaRPr lang="en-IN" sz="2000" b="1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783632" y="717908"/>
            <a:ext cx="3543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F:\Website\Misc\Logo_changed.jpg">
            <a:extLst>
              <a:ext uri="{FF2B5EF4-FFF2-40B4-BE49-F238E27FC236}">
                <a16:creationId xmlns:a16="http://schemas.microsoft.com/office/drawing/2014/main" id="{B9FCEDE4-92BA-B5AA-BD76-620CC0F1B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4078" y="6165305"/>
            <a:ext cx="1623922" cy="694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093B13B-6B71-0FB7-9744-09ECC607FD9B}"/>
                  </a:ext>
                </a:extLst>
              </p:cNvPr>
              <p:cNvSpPr txBox="1"/>
              <p:nvPr/>
            </p:nvSpPr>
            <p:spPr>
              <a:xfrm>
                <a:off x="2675476" y="820451"/>
                <a:ext cx="5022630" cy="5698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en-IN" sz="1400" dirty="0"/>
                  <a:t>TechFLUENT is a technology driven company engaged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IN" sz="1400" b="1" dirty="0"/>
                  <a:t> Design , Development and Distribution</a:t>
                </a:r>
                <a:r>
                  <a:rPr lang="en-IN" sz="1400" dirty="0"/>
                  <a:t>. We can give strategic end solutions in the following domains</a:t>
                </a:r>
              </a:p>
              <a:p>
                <a:pPr algn="just"/>
                <a:endParaRPr lang="en-IN" sz="1400" dirty="0"/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en-IN" sz="1400" dirty="0"/>
                  <a:t>Core Electronics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ü"/>
                </a:pPr>
                <a:r>
                  <a:rPr lang="en-IN" sz="1400" dirty="0"/>
                  <a:t>Embedded Design Solutions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ü"/>
                </a:pPr>
                <a:r>
                  <a:rPr lang="en-IN" sz="1400" dirty="0"/>
                  <a:t>Internet of Things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ü"/>
                </a:pPr>
                <a:r>
                  <a:rPr lang="en-IN" sz="1400" dirty="0"/>
                  <a:t>VLSI Solutions Firmware and Application driver code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ü"/>
                </a:pPr>
                <a:r>
                  <a:rPr lang="en-IN" sz="1400" dirty="0"/>
                  <a:t>Simulation Software's </a:t>
                </a:r>
              </a:p>
              <a:p>
                <a:pPr algn="just"/>
                <a:endParaRPr lang="en-IN" sz="1400" dirty="0"/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en-IN" sz="1400" dirty="0"/>
                  <a:t>RF Communications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ü"/>
                </a:pPr>
                <a:r>
                  <a:rPr lang="en-IN" sz="1400" dirty="0"/>
                  <a:t>Antenna Simulation and Designing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ü"/>
                </a:pPr>
                <a:r>
                  <a:rPr lang="en-IN" sz="1400" dirty="0"/>
                  <a:t>Satellite Communications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ü"/>
                </a:pPr>
                <a:r>
                  <a:rPr lang="en-IN" sz="1400" dirty="0"/>
                  <a:t>RF Components and RF Integration for Subsystem</a:t>
                </a:r>
              </a:p>
              <a:p>
                <a:pPr algn="just"/>
                <a:endParaRPr lang="en-IN" sz="1400" dirty="0"/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en-IN" sz="1400" dirty="0"/>
                  <a:t> Mechanical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ü"/>
                </a:pPr>
                <a:r>
                  <a:rPr lang="en-IN" sz="1400" dirty="0"/>
                  <a:t>Design Automation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ü"/>
                </a:pPr>
                <a:r>
                  <a:rPr lang="en-IN" sz="1400" dirty="0"/>
                  <a:t>CAD/ CAM/CAE Solutions</a:t>
                </a:r>
              </a:p>
              <a:p>
                <a:pPr algn="just"/>
                <a:endParaRPr lang="en-IN" sz="1400" dirty="0"/>
              </a:p>
              <a:p>
                <a:pPr algn="just"/>
                <a:endParaRPr lang="en-IN" sz="1400" dirty="0"/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endParaRPr lang="en-IN" sz="1400" dirty="0"/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endParaRPr lang="en-IN" sz="1400" dirty="0"/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endParaRPr lang="en-IN" sz="1400" dirty="0"/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endParaRPr lang="en-IN" sz="1400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IN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1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="" id="{0093B13B-6B71-0FB7-9744-09ECC607F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476" y="820451"/>
                <a:ext cx="5022630" cy="5698676"/>
              </a:xfrm>
              <a:prstGeom prst="rect">
                <a:avLst/>
              </a:prstGeom>
              <a:blipFill rotWithShape="0">
                <a:blip r:embed="rId4"/>
                <a:stretch>
                  <a:fillRect l="-243" t="-107" r="-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4664" y="430695"/>
            <a:ext cx="2552273" cy="77281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4664" y="1360420"/>
            <a:ext cx="2880690" cy="72017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8504" y="2154523"/>
            <a:ext cx="2878610" cy="114787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7530" y="3707662"/>
            <a:ext cx="1173468" cy="107892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5164" y="4943497"/>
            <a:ext cx="3091486" cy="1228726"/>
          </a:xfrm>
          <a:prstGeom prst="rect">
            <a:avLst/>
          </a:prstGeom>
        </p:spPr>
      </p:pic>
      <p:pic>
        <p:nvPicPr>
          <p:cNvPr id="1028" name="Picture 4" descr="Microwave Filters and Passive ...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261" y="3633359"/>
            <a:ext cx="2232471" cy="1130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6895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2675476" y="260648"/>
            <a:ext cx="36778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 err="1"/>
              <a:t>TechFLUENT</a:t>
            </a:r>
            <a:r>
              <a:rPr lang="en-IN" sz="2000" b="1" dirty="0"/>
              <a:t> Business Verticals - I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783632" y="717908"/>
            <a:ext cx="3543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F:\Website\Misc\Logo_changed.jpg">
            <a:extLst>
              <a:ext uri="{FF2B5EF4-FFF2-40B4-BE49-F238E27FC236}">
                <a16:creationId xmlns:a16="http://schemas.microsoft.com/office/drawing/2014/main" id="{B9FCEDE4-92BA-B5AA-BD76-620CC0F1B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4078" y="6165305"/>
            <a:ext cx="1623922" cy="694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2209800" y="962025"/>
            <a:ext cx="9982200" cy="49339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1400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  <a:defRPr/>
            </a:pPr>
            <a:endParaRPr lang="en-US" sz="1400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  <a:defRPr/>
            </a:pPr>
            <a:endParaRPr lang="en-US" sz="1400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  <a:defRPr/>
            </a:pPr>
            <a:endParaRPr lang="en-US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2354783" y="2837071"/>
            <a:ext cx="3546475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14350" indent="-28575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5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TechFLUENT</a:t>
            </a:r>
            <a:r>
              <a:rPr lang="en-US" altLang="en-US" sz="15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Design team has been developing products and extending services to the clients in the areas of Core </a:t>
            </a:r>
            <a:r>
              <a:rPr lang="en-US" altLang="en-US" sz="1500" b="1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Electronics, Wireless, Process Instrumentation and RF.</a:t>
            </a:r>
            <a:endParaRPr lang="en-US" altLang="en-US" sz="1500" dirty="0"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5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TechFLUENT</a:t>
            </a:r>
            <a:r>
              <a:rPr lang="en-US" altLang="en-US" sz="15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with its design in-house team has developed various products, to name few among them are Data Loggers, Tide </a:t>
            </a:r>
            <a:r>
              <a:rPr lang="en-US" altLang="en-US" sz="15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Guage</a:t>
            </a:r>
            <a:r>
              <a:rPr lang="en-US" altLang="en-US" sz="15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Formatters, Outdoor Terminals, Embedded Base board, Embedded Advanced Board and RF based Boards </a:t>
            </a:r>
            <a:r>
              <a:rPr lang="en-US" altLang="en-US" sz="15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etc</a:t>
            </a:r>
            <a:endParaRPr lang="en-US" altLang="en-US" sz="1500" dirty="0">
              <a:cs typeface="Times New Roman" panose="02020603050405020304" pitchFamily="18" charset="0"/>
            </a:endParaRPr>
          </a:p>
        </p:txBody>
      </p:sp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796" y="1591196"/>
            <a:ext cx="1835150" cy="1182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ctangle 19"/>
          <p:cNvSpPr>
            <a:spLocks noChangeArrowheads="1"/>
          </p:cNvSpPr>
          <p:nvPr/>
        </p:nvSpPr>
        <p:spPr bwMode="auto">
          <a:xfrm>
            <a:off x="2949796" y="1190989"/>
            <a:ext cx="20161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 altLang="en-US" sz="1600" b="1" dirty="0">
                <a:solidFill>
                  <a:srgbClr val="548DD4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Design Solutions</a:t>
            </a:r>
            <a:endParaRPr lang="en-US" altLang="en-US" sz="1600" dirty="0">
              <a:cs typeface="Times New Roman" panose="02020603050405020304" pitchFamily="18" charset="0"/>
            </a:endParaRP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8270" y="1484521"/>
            <a:ext cx="1924050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7883208" y="2922796"/>
            <a:ext cx="3440112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14350" indent="-28575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5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TechFLUENT</a:t>
            </a:r>
            <a:r>
              <a:rPr lang="en-US" altLang="en-US" sz="15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Engineering Services team formed strategic alliances with     multi-faceted collaborative partners to leverage our cumulative strengths, resources and technologies to bring next generation solutions to our clients.</a:t>
            </a:r>
            <a:endParaRPr lang="en-US" altLang="en-US" sz="1500" dirty="0"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5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Our solutions are packaged to meet the stringent requirements of</a:t>
            </a:r>
            <a:r>
              <a:rPr lang="en-US" altLang="en-US" sz="1500" b="1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DRDO Labs, Aero Space, PSU’s, SME’s and Academicians.</a:t>
            </a:r>
            <a:endParaRPr lang="en-US" altLang="en-US" sz="1500" dirty="0">
              <a:cs typeface="Times New Roman" panose="02020603050405020304" pitchFamily="18" charset="0"/>
            </a:endParaRP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8513445" y="1197184"/>
            <a:ext cx="2719388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 altLang="en-US" sz="1600" b="1" dirty="0">
                <a:solidFill>
                  <a:srgbClr val="548DD4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Engineering Solutions</a:t>
            </a:r>
            <a:endParaRPr lang="en-US" altLang="en-US" sz="16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07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2675476" y="260648"/>
            <a:ext cx="3631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 err="1"/>
              <a:t>TechFLUENT</a:t>
            </a:r>
            <a:r>
              <a:rPr lang="en-IN" sz="2000" b="1" dirty="0"/>
              <a:t> Business Verticals-II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783632" y="717908"/>
            <a:ext cx="3543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F:\Website\Misc\Logo_changed.jpg">
            <a:extLst>
              <a:ext uri="{FF2B5EF4-FFF2-40B4-BE49-F238E27FC236}">
                <a16:creationId xmlns:a16="http://schemas.microsoft.com/office/drawing/2014/main" id="{B9FCEDE4-92BA-B5AA-BD76-620CC0F1B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4078" y="6165305"/>
            <a:ext cx="1623922" cy="694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2230109" y="919162"/>
            <a:ext cx="9982200" cy="49339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1400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  <a:defRPr/>
            </a:pPr>
            <a:endParaRPr lang="en-US" sz="1400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  <a:defRPr/>
            </a:pPr>
            <a:endParaRPr lang="en-US" sz="1400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  <a:defRPr/>
            </a:pPr>
            <a:endParaRPr lang="en-US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2251086" y="2837071"/>
            <a:ext cx="2877095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14350" indent="-28575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endParaRPr lang="en-US" altLang="en-US" sz="15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5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TechFLUENT</a:t>
            </a:r>
            <a:r>
              <a:rPr lang="en-US" altLang="en-US" sz="15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Team also offers and offloads the activities  by providing the out sourcing support to </a:t>
            </a:r>
            <a:r>
              <a:rPr lang="en-US" altLang="en-US" sz="15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Defence</a:t>
            </a:r>
            <a:r>
              <a:rPr lang="en-US" altLang="en-US" sz="15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sectors, PSU’s and Industries with expertise as per the requirement from the customer Scope of work.</a:t>
            </a:r>
            <a:endParaRPr lang="en-US" altLang="en-US" sz="1500" dirty="0">
              <a:cs typeface="Times New Roman" panose="02020603050405020304" pitchFamily="18" charset="0"/>
            </a:endParaRPr>
          </a:p>
        </p:txBody>
      </p:sp>
      <p:sp>
        <p:nvSpPr>
          <p:cNvPr id="14" name="Rectangle 19"/>
          <p:cNvSpPr>
            <a:spLocks noChangeArrowheads="1"/>
          </p:cNvSpPr>
          <p:nvPr/>
        </p:nvSpPr>
        <p:spPr bwMode="auto">
          <a:xfrm>
            <a:off x="2846099" y="1190989"/>
            <a:ext cx="20161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 altLang="en-US" sz="1600" b="1" dirty="0">
                <a:solidFill>
                  <a:srgbClr val="548DD4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Man Power Services</a:t>
            </a:r>
            <a:endParaRPr lang="en-US" altLang="en-US" sz="1600" dirty="0">
              <a:cs typeface="Times New Roman" panose="02020603050405020304" pitchFamily="18" charset="0"/>
            </a:endParaRPr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5311339" y="2922795"/>
            <a:ext cx="3338361" cy="2322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14350" indent="-28575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endParaRPr lang="en-US" altLang="en-US" sz="15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5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TechFLUENT</a:t>
            </a:r>
            <a:r>
              <a:rPr lang="en-US" altLang="en-US" sz="15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Services team also offers the Reliability analysis to the </a:t>
            </a:r>
            <a:r>
              <a:rPr lang="en-US" altLang="en-US" sz="15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defence</a:t>
            </a:r>
            <a:r>
              <a:rPr lang="en-US" altLang="en-US" sz="15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sector at the Entire integrated system level and individual System level as well.</a:t>
            </a:r>
            <a:endParaRPr lang="en-US" altLang="en-US" sz="1500" dirty="0"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500" dirty="0">
              <a:cs typeface="Times New Roman" panose="02020603050405020304" pitchFamily="18" charset="0"/>
            </a:endParaRP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941576" y="1197184"/>
            <a:ext cx="2719388" cy="326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 altLang="en-US" sz="1600" b="1" dirty="0">
                <a:solidFill>
                  <a:srgbClr val="548DD4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Reliability Services</a:t>
            </a:r>
            <a:endParaRPr lang="en-US" altLang="en-US" sz="1600" dirty="0">
              <a:cs typeface="Times New Roman" panose="02020603050405020304" pitchFamily="18" charset="0"/>
            </a:endParaRP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8897453" y="3040477"/>
            <a:ext cx="311229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14350" indent="-28575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5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TechFLUENT</a:t>
            </a:r>
            <a:r>
              <a:rPr lang="en-US" altLang="en-US" sz="15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Engineering Team offers the strategic training courses to bridge the gap between the academicians and industry standard Requirements by offering the training on rea time embedded , Graphical system Design, FPGA Driver development, VHDL Programming , PCB and RF Simulation</a:t>
            </a:r>
            <a:endParaRPr lang="en-US" altLang="en-US" sz="1500" dirty="0">
              <a:cs typeface="Times New Roman" panose="02020603050405020304" pitchFamily="18" charset="0"/>
            </a:endParaRP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9603105" y="1212424"/>
            <a:ext cx="2719388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 altLang="en-US" sz="1600" b="1" dirty="0">
                <a:solidFill>
                  <a:srgbClr val="548DD4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Trainings</a:t>
            </a:r>
            <a:endParaRPr lang="en-US" altLang="en-US" sz="1600" dirty="0">
              <a:cs typeface="Times New Roman" panose="02020603050405020304" pitchFamily="18" charset="0"/>
            </a:endParaRPr>
          </a:p>
        </p:txBody>
      </p:sp>
      <p:pic>
        <p:nvPicPr>
          <p:cNvPr id="2050" name="Picture 2" descr="Manpower Logo Vector Images (59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513" y="1473978"/>
            <a:ext cx="2143125" cy="1566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9350" y="1473978"/>
            <a:ext cx="2800350" cy="16287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9898" y="1471943"/>
            <a:ext cx="2609850" cy="156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56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2675476" y="260648"/>
            <a:ext cx="60128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Introduction to Quality Management System Solution</a:t>
            </a:r>
            <a:endParaRPr lang="en-IN" sz="2000" b="1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783632" y="717908"/>
            <a:ext cx="3543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F:\Website\Misc\Logo_changed.jpg">
            <a:extLst>
              <a:ext uri="{FF2B5EF4-FFF2-40B4-BE49-F238E27FC236}">
                <a16:creationId xmlns:a16="http://schemas.microsoft.com/office/drawing/2014/main" id="{B9FCEDE4-92BA-B5AA-BD76-620CC0F1B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4078" y="6165305"/>
            <a:ext cx="1623922" cy="694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2230109" y="919162"/>
            <a:ext cx="9982200" cy="49339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1400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  <a:defRPr/>
            </a:pPr>
            <a:endParaRPr lang="en-US" sz="1400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  <a:defRPr/>
            </a:pPr>
            <a:endParaRPr lang="en-US" sz="1400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  <a:defRPr/>
            </a:pPr>
            <a:endParaRPr lang="en-US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81943" y="930895"/>
            <a:ext cx="922237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A Quality management system uses the structured framework of policies, Processes and Procedures used to ensure that an organization </a:t>
            </a:r>
            <a:r>
              <a:rPr lang="en-US" dirty="0" err="1"/>
              <a:t>Equipments</a:t>
            </a:r>
            <a:r>
              <a:rPr lang="en-US" dirty="0"/>
              <a:t> &amp; LRU’s Constantly meet the functionalities , While constantly improving the performance.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TechFLUENT Quality Management System Comprises of the Customized, Indigenous and Scalable User interface software with better user accessibility, Security, Customizable &amp; Dynamic Dash boards and Menu options. This Software ensures the quality management process for testing the quality of  Equipment's &amp; LRU’s along with all the required artifacts extraction in each phase of the inspection.</a:t>
            </a:r>
          </a:p>
          <a:p>
            <a:pPr algn="just"/>
            <a:endParaRPr lang="en-US" dirty="0"/>
          </a:p>
          <a:p>
            <a:pPr algn="just"/>
            <a:r>
              <a:rPr lang="en-US" b="1" u="sng" dirty="0"/>
              <a:t>Objectives: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QMS Ensures consistent quality of </a:t>
            </a:r>
            <a:r>
              <a:rPr lang="en-US" dirty="0" err="1"/>
              <a:t>Equipments</a:t>
            </a:r>
            <a:r>
              <a:rPr lang="en-US" dirty="0"/>
              <a:t> &amp; LRUs along with products and services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Increase customer satisfaction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Improve organizational efficiency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Support compliance with laws and Standards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Promote Continuous improvement in all the processes</a:t>
            </a:r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701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2675476" y="243231"/>
            <a:ext cx="2320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Features of Solution</a:t>
            </a:r>
            <a:endParaRPr lang="en-IN" sz="2000" b="1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783632" y="717908"/>
            <a:ext cx="3543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F:\Website\Misc\Logo_changed.jpg">
            <a:extLst>
              <a:ext uri="{FF2B5EF4-FFF2-40B4-BE49-F238E27FC236}">
                <a16:creationId xmlns:a16="http://schemas.microsoft.com/office/drawing/2014/main" id="{B9FCEDE4-92BA-B5AA-BD76-620CC0F1B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4078" y="6165305"/>
            <a:ext cx="1623922" cy="694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2230109" y="919162"/>
            <a:ext cx="9982200" cy="49339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1400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  <a:defRPr/>
            </a:pPr>
            <a:endParaRPr lang="en-US" sz="1400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  <a:defRPr/>
            </a:pPr>
            <a:endParaRPr lang="en-US" sz="1400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  <a:defRPr/>
            </a:pPr>
            <a:endParaRPr lang="en-US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12274" y="862964"/>
            <a:ext cx="922237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User management and Role management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Type of Users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Admin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Initiator </a:t>
            </a:r>
            <a:endParaRPr lang="en-US" sz="1400" dirty="0">
              <a:solidFill>
                <a:srgbClr val="1E293B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Request Approver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QA Head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OA Inspector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ORDAQA Head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ORDAQA Inspector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Team Head QA</a:t>
            </a:r>
            <a:endParaRPr lang="en-IN" sz="14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Dynamic menu based on User Role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Access control based on User Role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Inspection Request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Create Inspection Request (</a:t>
            </a:r>
            <a:r>
              <a:rPr lang="en-IN" dirty="0" err="1"/>
              <a:t>Initiator|Admin</a:t>
            </a:r>
            <a:r>
              <a:rPr lang="en-IN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Quality Checks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Assign Request to Inspector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Define Inspection Check list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Update Inspection check list status (Edit &amp; view Details)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Create quality checks – Final check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Attach inspection evidences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Close the Inspection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Approval or Reject the Inspection Report</a:t>
            </a:r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757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C3CE7-ECD8-7267-6B9A-34CFD2704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2360" y="213360"/>
            <a:ext cx="5633720" cy="894079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200" dirty="0"/>
          </a:p>
        </p:txBody>
      </p:sp>
      <p:pic>
        <p:nvPicPr>
          <p:cNvPr id="4" name="Image 0" descr="D:\qms 22-04-2026\docs\training-screenshots\12-dashboard-initiator.png">
            <a:extLst>
              <a:ext uri="{FF2B5EF4-FFF2-40B4-BE49-F238E27FC236}">
                <a16:creationId xmlns:a16="http://schemas.microsoft.com/office/drawing/2014/main" id="{3183E51E-B5E1-5675-B952-D4F7DB641F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656840" y="1253073"/>
            <a:ext cx="9108440" cy="523980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D244D8-1F5E-725D-2CAA-D63CBA00C798}"/>
              </a:ext>
            </a:extLst>
          </p:cNvPr>
          <p:cNvSpPr/>
          <p:nvPr/>
        </p:nvSpPr>
        <p:spPr>
          <a:xfrm>
            <a:off x="15240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5784CD3-EAD3-4978-01B4-0B242FD06C9C}"/>
              </a:ext>
            </a:extLst>
          </p:cNvPr>
          <p:cNvCxnSpPr>
            <a:cxnSpLocks/>
          </p:cNvCxnSpPr>
          <p:nvPr/>
        </p:nvCxnSpPr>
        <p:spPr>
          <a:xfrm>
            <a:off x="2468672" y="982068"/>
            <a:ext cx="53951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363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15604-2385-4043-ADCF-3C9E1D400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5880" y="172720"/>
            <a:ext cx="9210040" cy="91852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Request List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785943-1E1A-F284-8CAF-1F0EED706360}"/>
              </a:ext>
            </a:extLst>
          </p:cNvPr>
          <p:cNvSpPr/>
          <p:nvPr/>
        </p:nvSpPr>
        <p:spPr>
          <a:xfrm>
            <a:off x="15240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Image 0" descr="D:\qms 22-04-2026\docs\training-screenshots\03-inspections-list.png">
            <a:extLst>
              <a:ext uri="{FF2B5EF4-FFF2-40B4-BE49-F238E27FC236}">
                <a16:creationId xmlns:a16="http://schemas.microsoft.com/office/drawing/2014/main" id="{EC57AD7B-5BDE-7C82-EB1C-E006151032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53938" y="1341120"/>
            <a:ext cx="8924259" cy="513384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814E43E-781C-FFBC-902B-8AA4E5E49A2C}"/>
              </a:ext>
            </a:extLst>
          </p:cNvPr>
          <p:cNvCxnSpPr>
            <a:cxnSpLocks/>
          </p:cNvCxnSpPr>
          <p:nvPr/>
        </p:nvCxnSpPr>
        <p:spPr>
          <a:xfrm>
            <a:off x="2712512" y="971908"/>
            <a:ext cx="3769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653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F1EB-604A-64AD-F1D4-CA178A85A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6520" y="213360"/>
            <a:ext cx="8763000" cy="88804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Inspection Request (Part I)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36CFF3-8990-D890-7E37-D3E320018AD7}"/>
              </a:ext>
            </a:extLst>
          </p:cNvPr>
          <p:cNvSpPr/>
          <p:nvPr/>
        </p:nvSpPr>
        <p:spPr>
          <a:xfrm>
            <a:off x="15240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Image 0" descr="D:\qms 22-04-2026\docs\training-screenshots\04-new-inspection-request.png">
            <a:extLst>
              <a:ext uri="{FF2B5EF4-FFF2-40B4-BE49-F238E27FC236}">
                <a16:creationId xmlns:a16="http://schemas.microsoft.com/office/drawing/2014/main" id="{79E51887-2868-FBDF-958C-04D5344122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95600" y="1643888"/>
            <a:ext cx="8503920" cy="489204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8D8B51D-B534-F85C-5730-28DA7F6D5788}"/>
              </a:ext>
            </a:extLst>
          </p:cNvPr>
          <p:cNvCxnSpPr>
            <a:cxnSpLocks/>
          </p:cNvCxnSpPr>
          <p:nvPr/>
        </p:nvCxnSpPr>
        <p:spPr>
          <a:xfrm>
            <a:off x="2722672" y="1101408"/>
            <a:ext cx="64619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81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2675476" y="182882"/>
            <a:ext cx="7088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IN" sz="3200" b="1" dirty="0"/>
          </a:p>
        </p:txBody>
      </p:sp>
      <p:cxnSp>
        <p:nvCxnSpPr>
          <p:cNvPr id="7" name="Straight Connector 6"/>
          <p:cNvCxnSpPr>
            <a:cxnSpLocks/>
          </p:cNvCxnSpPr>
          <p:nvPr/>
        </p:nvCxnSpPr>
        <p:spPr>
          <a:xfrm>
            <a:off x="2783632" y="717908"/>
            <a:ext cx="11990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F:\Website\Misc\Logo_changed.jpg">
            <a:extLst>
              <a:ext uri="{FF2B5EF4-FFF2-40B4-BE49-F238E27FC236}">
                <a16:creationId xmlns:a16="http://schemas.microsoft.com/office/drawing/2014/main" id="{B9FCEDE4-92BA-B5AA-BD76-620CC0F1B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4078" y="6165305"/>
            <a:ext cx="1623922" cy="694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2230109" y="919162"/>
            <a:ext cx="9982200" cy="49339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1400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  <a:defRPr/>
            </a:pPr>
            <a:endParaRPr lang="en-US" sz="1400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  <a:defRPr/>
            </a:pPr>
            <a:endParaRPr lang="en-US" sz="1400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  <a:defRPr/>
            </a:pPr>
            <a:endParaRPr lang="en-US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12274" y="862964"/>
            <a:ext cx="9222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View of complete Inspection Report for all the users</a:t>
            </a:r>
          </a:p>
          <a:p>
            <a:pPr algn="just"/>
            <a:endParaRPr lang="en-IN" dirty="0"/>
          </a:p>
        </p:txBody>
      </p:sp>
      <p:pic>
        <p:nvPicPr>
          <p:cNvPr id="3" name="Image 0" descr="D:\qms 22-04-2026\docs\training-screenshots\06-reports.png">
            <a:extLst>
              <a:ext uri="{FF2B5EF4-FFF2-40B4-BE49-F238E27FC236}">
                <a16:creationId xmlns:a16="http://schemas.microsoft.com/office/drawing/2014/main" id="{EC882B29-85F3-DE66-EE41-988DB662A1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52592" y="1382599"/>
            <a:ext cx="7579568" cy="436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502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74094-A6F2-C8E5-BA4B-2B1465B36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6520" y="304800"/>
            <a:ext cx="8610600" cy="1170115"/>
          </a:xfrm>
        </p:spPr>
        <p:txBody>
          <a:bodyPr>
            <a:normAutofit/>
          </a:bodyPr>
          <a:lstStyle/>
          <a:p>
            <a:pPr marL="0" indent="0"/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Projects, Subsystems, LRUs &amp; SRUs</a:t>
            </a:r>
            <a:endParaRPr lang="en-US" sz="3200" dirty="0"/>
          </a:p>
        </p:txBody>
      </p:sp>
      <p:pic>
        <p:nvPicPr>
          <p:cNvPr id="4" name="Image 0" descr="D:\qms 22-04-2026\docs\training-screenshots\07-projects.png">
            <a:extLst>
              <a:ext uri="{FF2B5EF4-FFF2-40B4-BE49-F238E27FC236}">
                <a16:creationId xmlns:a16="http://schemas.microsoft.com/office/drawing/2014/main" id="{9012367B-6BC7-9E24-ECE8-6C93E311CC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900680" y="1661160"/>
            <a:ext cx="8503920" cy="48920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CC6F388-AEA9-278A-A3B3-335AC0C58002}"/>
              </a:ext>
            </a:extLst>
          </p:cNvPr>
          <p:cNvSpPr/>
          <p:nvPr/>
        </p:nvSpPr>
        <p:spPr>
          <a:xfrm>
            <a:off x="15240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6A8CD8D-E757-4CB1-FAA6-41D54F98B0E7}"/>
              </a:ext>
            </a:extLst>
          </p:cNvPr>
          <p:cNvCxnSpPr>
            <a:cxnSpLocks/>
          </p:cNvCxnSpPr>
          <p:nvPr/>
        </p:nvCxnSpPr>
        <p:spPr>
          <a:xfrm>
            <a:off x="2773472" y="1297028"/>
            <a:ext cx="5710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71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E9B3C-878F-B1E9-956F-51849C428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400" y="129032"/>
            <a:ext cx="7310120" cy="127108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3200" dirty="0"/>
          </a:p>
        </p:txBody>
      </p:sp>
      <p:pic>
        <p:nvPicPr>
          <p:cNvPr id="4" name="Image 0" descr="D:\qms 22-04-2026\docs\training-screenshots\08-users.png">
            <a:extLst>
              <a:ext uri="{FF2B5EF4-FFF2-40B4-BE49-F238E27FC236}">
                <a16:creationId xmlns:a16="http://schemas.microsoft.com/office/drawing/2014/main" id="{061773FC-A07E-C729-A20E-9191603FA6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64840" y="1836928"/>
            <a:ext cx="8503920" cy="48920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D1B9C68-5F91-AEA9-55D2-352859D30816}"/>
              </a:ext>
            </a:extLst>
          </p:cNvPr>
          <p:cNvSpPr/>
          <p:nvPr/>
        </p:nvSpPr>
        <p:spPr>
          <a:xfrm>
            <a:off x="15240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8F2CA5-9342-7B63-5990-A630B373D255}"/>
              </a:ext>
            </a:extLst>
          </p:cNvPr>
          <p:cNvCxnSpPr>
            <a:cxnSpLocks/>
          </p:cNvCxnSpPr>
          <p:nvPr/>
        </p:nvCxnSpPr>
        <p:spPr>
          <a:xfrm>
            <a:off x="2732832" y="1073508"/>
            <a:ext cx="29466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831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33572-F7DD-61CE-E83E-00E2D9424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048" y="159512"/>
            <a:ext cx="7015480" cy="1158239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Types &amp; Checklists</a:t>
            </a:r>
            <a:endParaRPr lang="en-US" sz="3200" dirty="0"/>
          </a:p>
        </p:txBody>
      </p:sp>
      <p:pic>
        <p:nvPicPr>
          <p:cNvPr id="4" name="Image 0" descr="D:\qms 22-04-2026\docs\training-screenshots\09-inspection-types.png">
            <a:extLst>
              <a:ext uri="{FF2B5EF4-FFF2-40B4-BE49-F238E27FC236}">
                <a16:creationId xmlns:a16="http://schemas.microsoft.com/office/drawing/2014/main" id="{6451DBC2-474B-26C8-3D3E-7ACDABB658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49880" y="1582928"/>
            <a:ext cx="8503920" cy="48920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E7CF2C0-4E7D-35DE-02D2-55F58A4A6FEC}"/>
              </a:ext>
            </a:extLst>
          </p:cNvPr>
          <p:cNvSpPr/>
          <p:nvPr/>
        </p:nvSpPr>
        <p:spPr>
          <a:xfrm>
            <a:off x="15240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570F97D-6909-26C6-0162-5F20828B4335}"/>
              </a:ext>
            </a:extLst>
          </p:cNvPr>
          <p:cNvCxnSpPr>
            <a:cxnSpLocks/>
          </p:cNvCxnSpPr>
          <p:nvPr/>
        </p:nvCxnSpPr>
        <p:spPr>
          <a:xfrm>
            <a:off x="2535128" y="1023111"/>
            <a:ext cx="48613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529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0DD39-DF3B-DBBA-C0B0-1FCD17C49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3320" y="149352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Password</a:t>
            </a:r>
            <a:endParaRPr lang="en-US" sz="3200" dirty="0"/>
          </a:p>
        </p:txBody>
      </p:sp>
      <p:pic>
        <p:nvPicPr>
          <p:cNvPr id="4" name="Image 0" descr="D:\qms 22-04-2026\docs\training-screenshots\11-profile.png">
            <a:extLst>
              <a:ext uri="{FF2B5EF4-FFF2-40B4-BE49-F238E27FC236}">
                <a16:creationId xmlns:a16="http://schemas.microsoft.com/office/drawing/2014/main" id="{5D05A820-F48D-6B51-E857-26E2BD86F7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0040" y="1633728"/>
            <a:ext cx="8503920" cy="48920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B7520E4-1A3E-A6CC-1143-A50703C938E9}"/>
              </a:ext>
            </a:extLst>
          </p:cNvPr>
          <p:cNvSpPr/>
          <p:nvPr/>
        </p:nvSpPr>
        <p:spPr>
          <a:xfrm>
            <a:off x="15240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BB3D74-DA06-A17D-33C1-7C63D9A73DE4}"/>
              </a:ext>
            </a:extLst>
          </p:cNvPr>
          <p:cNvCxnSpPr>
            <a:cxnSpLocks/>
          </p:cNvCxnSpPr>
          <p:nvPr/>
        </p:nvCxnSpPr>
        <p:spPr>
          <a:xfrm>
            <a:off x="2524760" y="1073911"/>
            <a:ext cx="3246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955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783632" y="717908"/>
            <a:ext cx="3543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F:\Website\Misc\Logo_changed.jpg">
            <a:extLst>
              <a:ext uri="{FF2B5EF4-FFF2-40B4-BE49-F238E27FC236}">
                <a16:creationId xmlns:a16="http://schemas.microsoft.com/office/drawing/2014/main" id="{B9FCEDE4-92BA-B5AA-BD76-620CC0F1B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4078" y="6165305"/>
            <a:ext cx="1623922" cy="694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C8E784-6C6B-29F4-3FC5-3BB0B1FBA5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1584" y="1432770"/>
            <a:ext cx="7704856" cy="379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60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592</Words>
  <Application>Microsoft Office PowerPoint</Application>
  <PresentationFormat>Widescreen</PresentationFormat>
  <Paragraphs>106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</vt:lpstr>
      <vt:lpstr>Inspection Request List</vt:lpstr>
      <vt:lpstr>Create New Inspection Request (Part I)</vt:lpstr>
      <vt:lpstr>PowerPoint Presentation</vt:lpstr>
      <vt:lpstr>Projects, Subsystems, LRUs &amp; SRUs</vt:lpstr>
      <vt:lpstr>User Management</vt:lpstr>
      <vt:lpstr>Inspection Types &amp; Checklists</vt:lpstr>
      <vt:lpstr>Profile &amp; Password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TechFLUENT</dc:creator>
  <cp:lastModifiedBy>Pavan Kumar</cp:lastModifiedBy>
  <cp:revision>35</cp:revision>
  <dcterms:created xsi:type="dcterms:W3CDTF">2025-10-24T03:24:16Z</dcterms:created>
  <dcterms:modified xsi:type="dcterms:W3CDTF">2026-06-19T06:43:02Z</dcterms:modified>
</cp:coreProperties>
</file>